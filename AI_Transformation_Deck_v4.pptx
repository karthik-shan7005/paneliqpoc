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25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274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1168" y="56692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1168" y="18836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AI-powered platforms to transform survey insights, panel intelligence, brand research and proposal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548" y="2837688"/>
            <a:ext cx="3017520" cy="1353312"/>
          </a:xfrm>
          <a:prstGeom prst="rect">
            <a:avLst/>
          </a:prstGeom>
          <a:solidFill>
            <a:srgbClr val="162E4A"/>
          </a:solidFill>
          <a:ln w="12700">
            <a:solidFill>
              <a:srgbClr val="16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896" y="2999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44752" y="299923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324977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44752" y="324977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" y="3500323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44752" y="3500323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375086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44752" y="3750869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03320" y="2743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Tools. One AI Platform.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3320" y="6035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built on Claude claude-sonnet-4-6 by Anthropic — shared infrastructure, consistent experience.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950976"/>
            <a:ext cx="24871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03320" y="950976"/>
            <a:ext cx="2487168" cy="36576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24128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87368" y="9875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13048" y="13716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Survey Insights Platform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13048" y="1627632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 of SPSS survey data — instant charts, summaries &amp; crosstabs. No SPSS expertise required.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81928" y="950976"/>
            <a:ext cx="24871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281928" y="950976"/>
            <a:ext cx="2487168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024128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665976" y="9875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PanelIQ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391656" y="13716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Platform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391656" y="1627632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panel health, engagement, fraud &amp; cost monitoring with automated alerts via email and Teams.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703320" y="2779776"/>
            <a:ext cx="24871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3703320" y="2779776"/>
            <a:ext cx="2487168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852928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087368" y="28163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BrandScope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3813048" y="32004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 Research Assistant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3813048" y="3456432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brand briefs: positioning, trends, sentiment &amp; methodology recommendations powered by live web search.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281928" y="2779776"/>
            <a:ext cx="24871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6281928" y="2779776"/>
            <a:ext cx="2487168" cy="365760"/>
          </a:xfrm>
          <a:prstGeom prst="rect">
            <a:avLst/>
          </a:prstGeom>
          <a:solidFill>
            <a:srgbClr val="B05C1E"/>
          </a:solidFill>
          <a:ln w="12700">
            <a:solidFill>
              <a:srgbClr val="B05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852928"/>
            <a:ext cx="219456" cy="21945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665976" y="28163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BidSense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391656" y="32004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&amp; Proposal Generation Tool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391656" y="3456432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proposals grounded in client history, audience data &amp; verified CPI benchmarks.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274320" y="4873752"/>
            <a:ext cx="8046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  ·  Proposed by: Research Ops  ·  Prepared for: Senior Management  ·  May 2026  ·  v1.0  ·  Confidential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841248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Ops  ·  Senior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758952"/>
            <a:ext cx="2121408" cy="420624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8229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758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" y="1234440"/>
            <a:ext cx="2121408" cy="1572768"/>
          </a:xfrm>
          <a:prstGeom prst="rect">
            <a:avLst/>
          </a:prstGeom>
          <a:solidFill>
            <a:srgbClr val="FFF4F4"/>
          </a:solidFill>
          <a:ln w="63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01168" y="12710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1168" y="1536192"/>
            <a:ext cx="197510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expertise required to extract any insight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dependent on analysts for every data request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self-serve access to survey data or wave trends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9728" y="2871216"/>
            <a:ext cx="2121408" cy="1737360"/>
          </a:xfrm>
          <a:prstGeom prst="rect">
            <a:avLst/>
          </a:prstGeom>
          <a:solidFill>
            <a:srgbClr val="F0FBF9"/>
          </a:solidFill>
          <a:ln w="635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01168" y="2907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1168" y="3182112"/>
            <a:ext cx="1975104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chatbot over uploaded SPSS datasets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full survey summaries per dataset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crosstab &amp; chart builder — no SPSS needed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96973" y="758952"/>
            <a:ext cx="2121408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413" y="82296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99309" y="758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PanelIQ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296973" y="1234440"/>
            <a:ext cx="2121408" cy="1572768"/>
          </a:xfrm>
          <a:prstGeom prst="rect">
            <a:avLst/>
          </a:prstGeom>
          <a:solidFill>
            <a:srgbClr val="FFF4F4"/>
          </a:solidFill>
          <a:ln w="63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2388413" y="12710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388413" y="1536192"/>
            <a:ext cx="197510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self-service access for leadership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SSRS/Tableau can't answer ad-hoc questions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alerts for fraud, cost or engagement drops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296973" y="2871216"/>
            <a:ext cx="2121408" cy="1737360"/>
          </a:xfrm>
          <a:prstGeom prst="rect">
            <a:avLst/>
          </a:prstGeom>
          <a:solidFill>
            <a:srgbClr val="F0FBF9"/>
          </a:solidFill>
          <a:ln w="635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2388413" y="2907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388413" y="3182112"/>
            <a:ext cx="1975104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AI chatbot over live panel data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answers with charts &amp; narrative summaries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Teams alerts for CPI, reject rates &amp; more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484218" y="758952"/>
            <a:ext cx="2121408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658" y="82296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86554" y="758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BrandScope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484218" y="1234440"/>
            <a:ext cx="2121408" cy="1572768"/>
          </a:xfrm>
          <a:prstGeom prst="rect">
            <a:avLst/>
          </a:prstGeom>
          <a:solidFill>
            <a:srgbClr val="FFF4F4"/>
          </a:solidFill>
          <a:ln w="63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575658" y="12710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5658" y="1536192"/>
            <a:ext cx="197510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spend hours on manual desk research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source for brand trends or sentiment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decisions rely on individual experience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484218" y="2871216"/>
            <a:ext cx="2121408" cy="1737360"/>
          </a:xfrm>
          <a:prstGeom prst="rect">
            <a:avLst/>
          </a:prstGeom>
          <a:solidFill>
            <a:srgbClr val="F0FBF9"/>
          </a:solidFill>
          <a:ln w="635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4575658" y="2907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575658" y="3182112"/>
            <a:ext cx="1975104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brand brief using live web search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trends, sentiment &amp; audience profile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AI-recommended research methodology with rationale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671462" y="758952"/>
            <a:ext cx="2121408" cy="420624"/>
          </a:xfrm>
          <a:prstGeom prst="rect">
            <a:avLst/>
          </a:prstGeom>
          <a:solidFill>
            <a:srgbClr val="B05C1E"/>
          </a:solidFill>
          <a:ln w="12700">
            <a:solidFill>
              <a:srgbClr val="B05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2" y="822960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73798" y="758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BidSense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671462" y="1234440"/>
            <a:ext cx="2121408" cy="1572768"/>
          </a:xfrm>
          <a:prstGeom prst="rect">
            <a:avLst/>
          </a:prstGeom>
          <a:solidFill>
            <a:srgbClr val="FFF4F4"/>
          </a:solidFill>
          <a:ln w="6350">
            <a:solidFill>
              <a:srgbClr val="FFCD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6762902" y="12710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762902" y="1536192"/>
            <a:ext cx="197510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team manually searches past projects for precedents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benchmarks rely on memory, not verified history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drafting is slow and inconsistent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6671462" y="2871216"/>
            <a:ext cx="2121408" cy="1737360"/>
          </a:xfrm>
          <a:prstGeom prst="rect">
            <a:avLst/>
          </a:prstGeom>
          <a:solidFill>
            <a:srgbClr val="F0FBF9"/>
          </a:solidFill>
          <a:ln w="635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6762902" y="2907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762902" y="3182112"/>
            <a:ext cx="1975104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retrieves client &amp; audience engagement history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CPI, IR &amp; completion rate benchmarks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proposal generated in minutes, not hours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274320" y="4873752"/>
            <a:ext cx="8046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  ·  Proposed by: Research Ops  ·  Prepared for: Senior Management  ·  May 2026  ·  v1.0  ·  Confidential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841248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  ·  DataLens Module 1 First, Sequential Delivery Thereafter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Ops  ·  Senior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15568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00123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84678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69234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53789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38344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22899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07454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92010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76565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961120" y="713232"/>
            <a:ext cx="0" cy="356616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864" y="768096"/>
            <a:ext cx="950976" cy="676656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" y="768096"/>
            <a:ext cx="950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43000" y="832104"/>
            <a:ext cx="1121969" cy="54864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179576" y="850392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79576" y="1115568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· 2–3 </a:t>
            </a:r>
            <a:r>
              <a:rPr lang="en-US" sz="70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319833" y="832104"/>
            <a:ext cx="729691" cy="5486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356409" y="850392"/>
            <a:ext cx="6748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04388" y="832104"/>
            <a:ext cx="239344" cy="548640"/>
          </a:xfrm>
          <a:prstGeom prst="rect">
            <a:avLst/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65776" y="832104"/>
            <a:ext cx="1121969" cy="548640"/>
          </a:xfrm>
          <a:prstGeom prst="rect">
            <a:avLst/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102352" y="850392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02352" y="1115568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Summary · 2–3 </a:t>
            </a:r>
            <a:r>
              <a:rPr lang="en-US" sz="70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027164" y="832104"/>
            <a:ext cx="1710385" cy="5486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063740" y="850392"/>
            <a:ext cx="1655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63740" y="1115568"/>
            <a:ext cx="1655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 Builder · 4–6 </a:t>
            </a:r>
            <a:r>
              <a:rPr lang="en-US" sz="70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864" y="1536192"/>
            <a:ext cx="950976" cy="6766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" y="1536192"/>
            <a:ext cx="950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PanelIQ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98596" y="1600200"/>
            <a:ext cx="141275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594735" y="1600200"/>
            <a:ext cx="1808455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31311" y="1618488"/>
            <a:ext cx="1753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31311" y="1883664"/>
            <a:ext cx="1753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Engagement · 4–5 mo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458054" y="1600200"/>
            <a:ext cx="1121969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494630" y="1618488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94630" y="1883664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 · 2–3 mo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634886" y="1600200"/>
            <a:ext cx="239344" cy="54864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4864" y="2304288"/>
            <a:ext cx="950976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4864" y="2304288"/>
            <a:ext cx="950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BrandScope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42609" y="2368296"/>
            <a:ext cx="1121969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79185" y="2386584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BrandScope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79185" y="2651760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Research Tool · 2–3 mo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864" y="3072384"/>
            <a:ext cx="950976" cy="676656"/>
          </a:xfrm>
          <a:prstGeom prst="rect">
            <a:avLst/>
          </a:prstGeom>
          <a:solidFill>
            <a:srgbClr val="B05C1E"/>
          </a:solidFill>
          <a:ln w="12700">
            <a:solidFill>
              <a:srgbClr val="B05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4864" y="3072384"/>
            <a:ext cx="950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BidSense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419442" y="3136392"/>
            <a:ext cx="1121969" cy="5486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56018" y="3154680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BidSense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56018" y="3419856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&amp; Proposal Tool · 2–3 mo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596274" y="3136392"/>
            <a:ext cx="239344" cy="5486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74320" y="4572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Module 1 launches first. PanelIQ POC follows at Month 6. Module 2 &amp; 3 interleave with BrandScope &amp; BidSense from Month 10 onwards.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74320" y="4873752"/>
            <a:ext cx="8046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  ·  Proposed by: Research Ops  ·  Prepared for: Senior Management  ·  May 2026  ·  v1.0  ·  Confidential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41248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Ops  ·  Senior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Cost by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69848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069848"/>
            <a:ext cx="2011680" cy="274320"/>
          </a:xfrm>
          <a:prstGeom prst="rect">
            <a:avLst/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106424"/>
            <a:ext cx="192024" cy="192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9496" y="1088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380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A: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8952" y="13807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 – $84K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58952" y="15636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₹43L – ₹76L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0040" y="176479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040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B: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8952" y="18013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C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 – $30K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58952" y="19842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₹14L – ₹27L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331720" y="1069848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331720" y="1069848"/>
            <a:ext cx="2011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1106424"/>
            <a:ext cx="192024" cy="1920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42616" y="1088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PanelIQ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423160" y="1380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A: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862072" y="138074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 – $85K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862072" y="156362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₹43L – ₹77L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423160" y="1764792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2423160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B: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862072" y="18013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 – $35K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862072" y="19842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₹16L – ₹32L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228600" y="2240280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228600" y="2240280"/>
            <a:ext cx="20116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276856"/>
            <a:ext cx="192024" cy="19202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9496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BrandScope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20040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A: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58952" y="255117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– $35K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758952" y="27340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₹18L – ₹32L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20040" y="293522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32004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B: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758952" y="297180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– $15K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758952" y="315468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₹7L – ₹14L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2331720" y="2240280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2331720" y="2240280"/>
            <a:ext cx="2011680" cy="274320"/>
          </a:xfrm>
          <a:prstGeom prst="rect">
            <a:avLst/>
          </a:prstGeom>
          <a:solidFill>
            <a:srgbClr val="B05C1E"/>
          </a:solidFill>
          <a:ln w="12700">
            <a:solidFill>
              <a:srgbClr val="B05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872" y="2276856"/>
            <a:ext cx="192024" cy="19202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2642616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BidSense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2423160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A: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2862072" y="255117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– $35K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2862072" y="27340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₹18L – ₹32L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2423160" y="2935224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1"/>
          <p:cNvSpPr/>
          <p:nvPr/>
        </p:nvSpPr>
        <p:spPr>
          <a:xfrm>
            <a:off x="242316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 B: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2862072" y="297180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0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– $15K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2862072" y="315468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₹7L – ₹14L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228600" y="3419856"/>
            <a:ext cx="42062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5"/>
          <p:cNvSpPr/>
          <p:nvPr/>
        </p:nvSpPr>
        <p:spPr>
          <a:xfrm>
            <a:off x="347472" y="3419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(first year)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2103120" y="3419856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$150K–$240K  (₹1.35Cr–₹2.16Cr)
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$55K–$100K  (₹50L–₹90L)  ✦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228600" y="4041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Anthropic API: ~$150–$650/mo (₹14K–₹59K/mo) across all tools  ·  Exchange rate: ₹90 = $1  ·  Scenario B recommended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4709160" y="777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4709160" y="1152144"/>
            <a:ext cx="292608" cy="29260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4709160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5084064" y="11247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DataLens Module 1 Kickoff</a:t>
            </a:r>
            <a:endParaRPr lang="en-US" sz="1050" dirty="0"/>
          </a:p>
        </p:txBody>
      </p:sp>
      <p:sp>
        <p:nvSpPr>
          <p:cNvPr id="58" name="Text 52"/>
          <p:cNvSpPr/>
          <p:nvPr/>
        </p:nvSpPr>
        <p:spPr>
          <a:xfrm>
            <a:off x="5084064" y="1399032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Module 1 is the first build. Research Ops to confirm SPSS data access and datamap format with the survey team.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4709160" y="2002536"/>
            <a:ext cx="292608" cy="29260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4"/>
          <p:cNvSpPr/>
          <p:nvPr/>
        </p:nvSpPr>
        <p:spPr>
          <a:xfrm>
            <a:off x="47091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5"/>
          <p:cNvSpPr/>
          <p:nvPr/>
        </p:nvSpPr>
        <p:spPr>
          <a:xfrm>
            <a:off x="5084064" y="1975104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PanelIQ POC Demo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5084064" y="2249424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live PanelIQ POC — dynamic Q&amp;A on real panel data. 20–30 min session with Senior Management at Month 6.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4709160" y="2852928"/>
            <a:ext cx="292608" cy="29260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58"/>
          <p:cNvSpPr/>
          <p:nvPr/>
        </p:nvSpPr>
        <p:spPr>
          <a:xfrm>
            <a:off x="470916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5084064" y="2825496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Resource Model</a:t>
            </a:r>
            <a:endParaRPr lang="en-US" sz="1050" dirty="0"/>
          </a:p>
        </p:txBody>
      </p:sp>
      <p:sp>
        <p:nvSpPr>
          <p:cNvPr id="66" name="Text 60"/>
          <p:cNvSpPr/>
          <p:nvPr/>
        </p:nvSpPr>
        <p:spPr>
          <a:xfrm>
            <a:off x="5084064" y="3099816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to choose Scenario A (dedicated team) or Scenario B (internal + contractor). Scenario B recommended.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4709160" y="3703320"/>
            <a:ext cx="292608" cy="29260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2"/>
          <p:cNvSpPr/>
          <p:nvPr/>
        </p:nvSpPr>
        <p:spPr>
          <a:xfrm>
            <a:off x="47091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3"/>
          <p:cNvSpPr/>
          <p:nvPr/>
        </p:nvSpPr>
        <p:spPr>
          <a:xfrm>
            <a:off x="5084064" y="3675888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Build Sequence</a:t>
            </a:r>
            <a:endParaRPr lang="en-US" sz="1050" dirty="0"/>
          </a:p>
        </p:txBody>
      </p:sp>
      <p:sp>
        <p:nvSpPr>
          <p:cNvPr id="70" name="Text 64"/>
          <p:cNvSpPr/>
          <p:nvPr/>
        </p:nvSpPr>
        <p:spPr>
          <a:xfrm>
            <a:off x="5084064" y="3950208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DataLens M2 &amp; M3 interleave points with BrandScope &amp; BidSense. Research Ops to schedule sprint reviews.</a:t>
            </a:r>
            <a:endParaRPr lang="en-US" sz="900" dirty="0"/>
          </a:p>
        </p:txBody>
      </p:sp>
      <p:sp>
        <p:nvSpPr>
          <p:cNvPr id="71" name="Shape 6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6"/>
          <p:cNvSpPr/>
          <p:nvPr/>
        </p:nvSpPr>
        <p:spPr>
          <a:xfrm>
            <a:off x="274320" y="4873752"/>
            <a:ext cx="80467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BorderlessAccess  ·  Proposed by: Research Ops  ·  Prepared for: Senior Management  ·  May 2026  ·  v1.0  ·  Confidential</a:t>
            </a:r>
            <a:endParaRPr lang="en-US" sz="750" dirty="0"/>
          </a:p>
        </p:txBody>
      </p:sp>
      <p:sp>
        <p:nvSpPr>
          <p:cNvPr id="73" name="Text 67"/>
          <p:cNvSpPr/>
          <p:nvPr/>
        </p:nvSpPr>
        <p:spPr>
          <a:xfrm>
            <a:off x="8412480" y="4873752"/>
            <a:ext cx="548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861</Words>
  <Application>Microsoft Office PowerPoint</Application>
  <PresentationFormat>On-screen Show (16:9)</PresentationFormat>
  <Paragraphs>146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Proposal – BorderlessAccess</dc:title>
  <dc:subject>PptxGenJS Presentation</dc:subject>
  <dc:creator>PptxGenJS</dc:creator>
  <cp:lastModifiedBy>Karthik Shanmugam</cp:lastModifiedBy>
  <cp:revision>4</cp:revision>
  <dcterms:created xsi:type="dcterms:W3CDTF">2026-05-04T05:40:39Z</dcterms:created>
  <dcterms:modified xsi:type="dcterms:W3CDTF">2026-05-04T06:22:39Z</dcterms:modified>
</cp:coreProperties>
</file>