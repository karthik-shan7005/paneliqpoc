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931920"/>
            <a:ext cx="12188952" cy="63500"/>
          </a:xfrm>
          <a:prstGeom prst="rect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118872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FFFFFF"/>
                </a:solidFill>
              </a:rPr>
              <a:t>PanelIQ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6060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0099CC"/>
                </a:solidFill>
              </a:rPr>
              <a:t>AI-Powered Panel Intelligence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2976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0B8D0"/>
                </a:solidFill>
              </a:rPr>
              <a:t>Proposal &amp; Implementation Plan  |  Borderless Access  | 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l"/>
            <a:r>
              <a:rPr sz="2200" b="1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50800"/>
          </a:xfrm>
          <a:prstGeom prst="rect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1285240"/>
            <a:ext cx="5394960" cy="1097280"/>
          </a:xfrm>
          <a:prstGeom prst="rect">
            <a:avLst/>
          </a:prstGeom>
          <a:solidFill>
            <a:srgbClr val="F0F7FB"/>
          </a:solidFill>
          <a:ln w="12700">
            <a:solidFill>
              <a:srgbClr val="009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55956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A5C"/>
                </a:solidFill>
              </a:rPr>
              <a:t>01  Current State &amp; Challenges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565400"/>
            <a:ext cx="5394960" cy="1097280"/>
          </a:xfrm>
          <a:prstGeom prst="rect">
            <a:avLst/>
          </a:prstGeom>
          <a:solidFill>
            <a:srgbClr val="F0F7FB"/>
          </a:solidFill>
          <a:ln w="12700">
            <a:solidFill>
              <a:srgbClr val="009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283972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A5C"/>
                </a:solidFill>
              </a:rPr>
              <a:t>02  Proposed Solution — PanelIQ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845560"/>
            <a:ext cx="5394960" cy="1097280"/>
          </a:xfrm>
          <a:prstGeom prst="rect">
            <a:avLst/>
          </a:prstGeom>
          <a:solidFill>
            <a:srgbClr val="F0F7FB"/>
          </a:solidFill>
          <a:ln w="12700">
            <a:solidFill>
              <a:srgbClr val="009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411988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A5C"/>
                </a:solidFill>
              </a:rPr>
              <a:t>03  Access Control &amp; Security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125720"/>
            <a:ext cx="5394960" cy="1097280"/>
          </a:xfrm>
          <a:prstGeom prst="rect">
            <a:avLst/>
          </a:prstGeom>
          <a:solidFill>
            <a:srgbClr val="F0F7FB"/>
          </a:solidFill>
          <a:ln w="12700">
            <a:solidFill>
              <a:srgbClr val="009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540004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A5C"/>
                </a:solidFill>
              </a:rPr>
              <a:t>04  Technology Stack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285240"/>
            <a:ext cx="5394960" cy="1097280"/>
          </a:xfrm>
          <a:prstGeom prst="rect">
            <a:avLst/>
          </a:prstGeom>
          <a:solidFill>
            <a:srgbClr val="F0F7FB"/>
          </a:solidFill>
          <a:ln w="12700">
            <a:solidFill>
              <a:srgbClr val="009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0" y="155956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A5C"/>
                </a:solidFill>
              </a:rPr>
              <a:t>05  Phased Roadmap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2565400"/>
            <a:ext cx="5394960" cy="1097280"/>
          </a:xfrm>
          <a:prstGeom prst="rect">
            <a:avLst/>
          </a:prstGeom>
          <a:solidFill>
            <a:srgbClr val="F0F7FB"/>
          </a:solidFill>
          <a:ln w="12700">
            <a:solidFill>
              <a:srgbClr val="009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0" y="283972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A5C"/>
                </a:solidFill>
              </a:rPr>
              <a:t>06  Cost &amp; Timeline — 3 Scenarios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3845560"/>
            <a:ext cx="5394960" cy="1097280"/>
          </a:xfrm>
          <a:prstGeom prst="rect">
            <a:avLst/>
          </a:prstGeom>
          <a:solidFill>
            <a:srgbClr val="F0F7FB"/>
          </a:solidFill>
          <a:ln w="12700">
            <a:solidFill>
              <a:srgbClr val="009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0" y="411988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A5C"/>
                </a:solidFill>
              </a:rPr>
              <a:t>07  Recommendation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5125720"/>
            <a:ext cx="5394960" cy="1097280"/>
          </a:xfrm>
          <a:prstGeom prst="rect">
            <a:avLst/>
          </a:prstGeom>
          <a:solidFill>
            <a:srgbClr val="F0F7FB"/>
          </a:solidFill>
          <a:ln w="12700">
            <a:solidFill>
              <a:srgbClr val="009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83680" y="540004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A5C"/>
                </a:solidFill>
              </a:rPr>
              <a:t>08 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l"/>
            <a:r>
              <a:rPr sz="2200" b="1">
                <a:solidFill>
                  <a:srgbClr val="FFFFFF"/>
                </a:solidFill>
              </a:rPr>
              <a:t>Current State &amp; Challenges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50800"/>
          </a:xfrm>
          <a:prstGeom prst="rect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1480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99CC"/>
                </a:solidFill>
              </a:rPr>
              <a:t>How Insights Are Accessed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5280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</a:rPr>
              <a:t>• Tableau dashboards — pre-defined, static performance views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19680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</a:rPr>
              <a:t>• SSRS reports — structured operational reporting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434080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</a:rPr>
              <a:t>• Ad-hoc requests to Technology, Finance, or Analytics teams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48480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</a:rPr>
              <a:t>• 1–3 business days wait for any dynamic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262880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</a:rPr>
              <a:t>• Dynamic insights available only at monthly/quarterly reviews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1102360"/>
            <a:ext cx="38100" cy="5577840"/>
          </a:xfrm>
          <a:prstGeom prst="rect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26480" y="114808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99CC"/>
                </a:solidFill>
              </a:rPr>
              <a:t>Key Challenges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605280"/>
            <a:ext cx="5669280" cy="777240"/>
          </a:xfrm>
          <a:prstGeom prst="rect">
            <a:avLst/>
          </a:prstGeom>
          <a:solidFill>
            <a:srgbClr val="F0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09360" y="1651000"/>
            <a:ext cx="5394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1A3A5C"/>
                </a:solidFill>
              </a:rPr>
              <a:t>Delayed Decisions  </a:t>
            </a:r>
            <a:r>
              <a:rPr sz="1050">
                <a:solidFill>
                  <a:srgbClr val="2D3748"/>
                </a:solidFill>
              </a:rPr>
              <a:t>1–3 days for any dynamic question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2473960"/>
            <a:ext cx="566928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09360" y="2519680"/>
            <a:ext cx="5394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1A3A5C"/>
                </a:solidFill>
              </a:rPr>
              <a:t>Team Dependency  </a:t>
            </a:r>
            <a:r>
              <a:rPr sz="1050">
                <a:solidFill>
                  <a:srgbClr val="2D3748"/>
                </a:solidFill>
              </a:rPr>
              <a:t>Every request creates workload for support teams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3342640"/>
            <a:ext cx="5669280" cy="777240"/>
          </a:xfrm>
          <a:prstGeom prst="rect">
            <a:avLst/>
          </a:prstGeom>
          <a:solidFill>
            <a:srgbClr val="F0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09360" y="3388360"/>
            <a:ext cx="5394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1A3A5C"/>
                </a:solidFill>
              </a:rPr>
              <a:t>Low Frequency  </a:t>
            </a:r>
            <a:r>
              <a:rPr sz="1050">
                <a:solidFill>
                  <a:srgbClr val="2D3748"/>
                </a:solidFill>
              </a:rPr>
              <a:t>Insights available monthly or quarterly only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4211320"/>
            <a:ext cx="566928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09360" y="4257040"/>
            <a:ext cx="5394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1A3A5C"/>
                </a:solidFill>
              </a:rPr>
              <a:t>Inconsistency Risk  </a:t>
            </a:r>
            <a:r>
              <a:rPr sz="1050">
                <a:solidFill>
                  <a:srgbClr val="2D3748"/>
                </a:solidFill>
              </a:rPr>
              <a:t>Different teams, different metric interpretations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5080000"/>
            <a:ext cx="5669280" cy="777240"/>
          </a:xfrm>
          <a:prstGeom prst="rect">
            <a:avLst/>
          </a:prstGeom>
          <a:solidFill>
            <a:srgbClr val="F0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09360" y="5125720"/>
            <a:ext cx="5394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1A3A5C"/>
                </a:solidFill>
              </a:rPr>
              <a:t>No Self-Service  </a:t>
            </a:r>
            <a:r>
              <a:rPr sz="1050">
                <a:solidFill>
                  <a:srgbClr val="2D3748"/>
                </a:solidFill>
              </a:rPr>
              <a:t>Non-technical users locked out of dynamic data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5948680"/>
            <a:ext cx="566928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09360" y="5994400"/>
            <a:ext cx="5394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1A3A5C"/>
                </a:solidFill>
              </a:rPr>
              <a:t>Scalability Gap  </a:t>
            </a:r>
            <a:r>
              <a:rPr sz="1050">
                <a:solidFill>
                  <a:srgbClr val="2D3748"/>
                </a:solidFill>
              </a:rPr>
              <a:t>Request volume will grow with the business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l"/>
            <a:r>
              <a:rPr sz="2200" b="1">
                <a:solidFill>
                  <a:srgbClr val="FFFFFF"/>
                </a:solidFill>
              </a:rPr>
              <a:t>Proposed Solution — PanelIQ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50800"/>
          </a:xfrm>
          <a:prstGeom prst="rect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10236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2D3748"/>
                </a:solidFill>
              </a:rPr>
              <a:t>A secure web-based AI assistant at paneliq.borderlessaccess.com — ask in plain English, get answers in seconds.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605280"/>
            <a:ext cx="2788920" cy="3840480"/>
          </a:xfrm>
          <a:prstGeom prst="rect">
            <a:avLst/>
          </a:prstGeom>
          <a:solidFill>
            <a:srgbClr val="F0F7FB"/>
          </a:solidFill>
          <a:ln w="12700">
            <a:solidFill>
              <a:srgbClr val="009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280160" y="1833880"/>
            <a:ext cx="914400" cy="914400"/>
          </a:xfrm>
          <a:prstGeom prst="ellipse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85440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3A5C"/>
                </a:solidFill>
              </a:rPr>
              <a:t>User Asks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79799"/>
            <a:ext cx="2606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D3748"/>
                </a:solidFill>
              </a:rPr>
              <a:t>"Show me completes by
market for Q1 2026"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30226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99CC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7560" y="1605280"/>
            <a:ext cx="2788920" cy="3840480"/>
          </a:xfrm>
          <a:prstGeom prst="rect">
            <a:avLst/>
          </a:prstGeom>
          <a:solidFill>
            <a:srgbClr val="F0F7FB"/>
          </a:solidFill>
          <a:ln w="12700">
            <a:solidFill>
              <a:srgbClr val="009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251960" y="1833880"/>
            <a:ext cx="914400" cy="914400"/>
          </a:xfrm>
          <a:prstGeom prst="ellipse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2885440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3A5C"/>
                </a:solidFill>
              </a:rPr>
              <a:t>Claude Generates 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3479799"/>
            <a:ext cx="2606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D3748"/>
                </a:solidFill>
              </a:rPr>
              <a:t>Translates natural language
into precise, secure SQL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30226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99CC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605280"/>
            <a:ext cx="2788920" cy="3840480"/>
          </a:xfrm>
          <a:prstGeom prst="rect">
            <a:avLst/>
          </a:prstGeom>
          <a:solidFill>
            <a:srgbClr val="F0F7FB"/>
          </a:solidFill>
          <a:ln w="12700">
            <a:solidFill>
              <a:srgbClr val="009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7223760" y="1833880"/>
            <a:ext cx="914400" cy="914400"/>
          </a:xfrm>
          <a:prstGeom prst="ellipse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885440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3A5C"/>
                </a:solidFill>
              </a:rPr>
              <a:t>Query Executes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479799"/>
            <a:ext cx="2606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D3748"/>
                </a:solidFill>
              </a:rPr>
              <a:t>Runs securely against
KpiReports database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30226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99CC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81160" y="1605280"/>
            <a:ext cx="2788920" cy="3840480"/>
          </a:xfrm>
          <a:prstGeom prst="rect">
            <a:avLst/>
          </a:prstGeom>
          <a:solidFill>
            <a:srgbClr val="F0F7FB"/>
          </a:solidFill>
          <a:ln w="12700">
            <a:solidFill>
              <a:srgbClr val="009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0195560" y="1833880"/>
            <a:ext cx="914400" cy="914400"/>
          </a:xfrm>
          <a:prstGeom prst="ellipse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72600" y="2885440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3A5C"/>
                </a:solidFill>
              </a:rPr>
              <a:t>Instant Results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600" y="3479799"/>
            <a:ext cx="2606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D3748"/>
                </a:solidFill>
              </a:rPr>
              <a:t>Chart + table + analyst
summary in seconds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623560"/>
            <a:ext cx="11430000" cy="64008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7200" y="56692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✓  Proof of Concept validated  —  Phase 1 is approximately 80% complete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l"/>
            <a:r>
              <a:rPr sz="2200" b="1">
                <a:solidFill>
                  <a:srgbClr val="FFFFFF"/>
                </a:solidFill>
              </a:rPr>
              <a:t>Access Control &amp; Data Security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50800"/>
          </a:xfrm>
          <a:prstGeom prst="rect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65760" y="1239520"/>
            <a:ext cx="5577840" cy="2377440"/>
          </a:xfrm>
          <a:prstGeom prst="rect">
            <a:avLst/>
          </a:prstGeom>
          <a:solidFill>
            <a:srgbClr val="F0F7FB"/>
          </a:solidFill>
          <a:ln w="25400">
            <a:solidFill>
              <a:srgbClr val="009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42240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99CC"/>
                </a:solidFill>
              </a:rPr>
              <a:t>Role-Based Access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71040"/>
            <a:ext cx="5212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</a:rPr>
              <a:t>Users see only data relevant to their role and BU. A market analyst sees their market; a BU director sees their BU.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63640" y="1239520"/>
            <a:ext cx="5577840" cy="2377440"/>
          </a:xfrm>
          <a:prstGeom prst="rect">
            <a:avLst/>
          </a:prstGeom>
          <a:solidFill>
            <a:srgbClr val="F0F7FB"/>
          </a:solidFill>
          <a:ln w="254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42240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</a:rPr>
              <a:t>Field-Level Restrictions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971040"/>
            <a:ext cx="5212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</a:rPr>
              <a:t>Sensitive fields — revenue, vendor cost, margins — visible only to authorised users. Finance sees financials; operations see operations.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799840"/>
            <a:ext cx="5577840" cy="2377440"/>
          </a:xfrm>
          <a:prstGeom prst="rect">
            <a:avLst/>
          </a:prstGeom>
          <a:solidFill>
            <a:srgbClr val="F0F7FB"/>
          </a:solidFill>
          <a:ln w="25400">
            <a:solidFill>
              <a:srgbClr val="009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398272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99CC"/>
                </a:solidFill>
              </a:rPr>
              <a:t>Row-Level Scoping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531360"/>
            <a:ext cx="5212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</a:rPr>
              <a:t>A BU1 director sees only BU1 client revenue. BU2 data is never included in the query — not filtered after retrieval.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3799840"/>
            <a:ext cx="5577840" cy="2377440"/>
          </a:xfrm>
          <a:prstGeom prst="rect">
            <a:avLst/>
          </a:prstGeom>
          <a:solidFill>
            <a:srgbClr val="F0F7FB"/>
          </a:solidFill>
          <a:ln w="254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46520" y="398272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</a:rPr>
              <a:t>AI-Enforced Rules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4531360"/>
            <a:ext cx="5212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</a:rPr>
              <a:t>Access constraints are injected into every SQL query at the AI layer. Users cannot bypass restrictions through creative questioning.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l"/>
            <a:r>
              <a:rPr sz="2200" b="1">
                <a:solidFill>
                  <a:srgbClr val="FFFFFF"/>
                </a:solidFill>
              </a:rPr>
              <a:t>Technology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50800"/>
          </a:xfrm>
          <a:prstGeom prst="rect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566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2D3748"/>
                </a:solidFill>
              </a:rPr>
              <a:t>Enterprise-grade technologies selected for long-term scalability, developer availability, and multi-year support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468120"/>
          <a:ext cx="1143000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Component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Technology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Purpose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Scalability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AI Engine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748"/>
                          </a:solidFill>
                        </a:rPr>
                        <a:t>Anthropic Claude API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748"/>
                          </a:solidFill>
                        </a:rPr>
                        <a:t>NL-to-SQL, summaries, suggestions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748"/>
                          </a:solidFill>
                        </a:rPr>
                        <a:t>API-based; no infra; model improves over time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Backend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748"/>
                          </a:solidFill>
                        </a:rPr>
                        <a:t>Python + FastAPI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748"/>
                          </a:solidFill>
                        </a:rPr>
                        <a:t>Query engine, logic, access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748"/>
                          </a:solidFill>
                        </a:rPr>
                        <a:t>Production-grade; high concurrency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Frontend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748"/>
                          </a:solidFill>
                        </a:rPr>
                        <a:t>React + Vite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748"/>
                          </a:solidFill>
                        </a:rPr>
                        <a:t>Chat UI, charts, data tables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748"/>
                          </a:solidFill>
                        </a:rPr>
                        <a:t>Industry standard; large ecosystem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Analytics DB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748"/>
                          </a:solidFill>
                        </a:rPr>
                        <a:t>SQL Server (KpiReports)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748"/>
                          </a:solidFill>
                        </a:rPr>
                        <a:t>Source of truth for panel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748"/>
                          </a:solidFill>
                        </a:rPr>
                        <a:t>Enterprise-grade; existing infrastructure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App DB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748"/>
                          </a:solidFill>
                        </a:rPr>
                        <a:t>SQL Server (new internal)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748"/>
                          </a:solidFill>
                        </a:rPr>
                        <a:t>Users, history, access rules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748"/>
                          </a:solidFill>
                        </a:rPr>
                        <a:t>Existing SQL Server — no added licence cost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Hosting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748"/>
                          </a:solidFill>
                        </a:rPr>
                        <a:t>Internal subdomain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748"/>
                          </a:solidFill>
                        </a:rPr>
                        <a:t>paneliq.borderlessaccess.com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748"/>
                          </a:solidFill>
                        </a:rPr>
                        <a:t>No cost; scales to 500+ users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Version Control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748"/>
                          </a:solidFill>
                        </a:rPr>
                        <a:t>GitHub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748"/>
                          </a:solidFill>
                        </a:rPr>
                        <a:t>Code management, team collaboration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748"/>
                          </a:solidFill>
                        </a:rPr>
                        <a:t>Industry standard; private repository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Dev Assistant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748"/>
                          </a:solidFill>
                        </a:rPr>
                        <a:t>Claude Code (Anthropic)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748"/>
                          </a:solidFill>
                        </a:rPr>
                        <a:t>AI-assisted development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748"/>
                          </a:solidFill>
                        </a:rPr>
                        <a:t>Greatly reduces learning curve for analysts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l"/>
            <a:r>
              <a:rPr sz="2200" b="1">
                <a:solidFill>
                  <a:srgbClr val="FFFFFF"/>
                </a:solidFill>
              </a:rPr>
              <a:t>Phased 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50800"/>
          </a:xfrm>
          <a:prstGeom prst="rect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74320" y="1193800"/>
            <a:ext cx="2834640" cy="68580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21208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Phase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486408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Foundation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879600"/>
            <a:ext cx="2834640" cy="384048"/>
          </a:xfrm>
          <a:prstGeom prst="rect">
            <a:avLst/>
          </a:prstGeom>
          <a:solidFill>
            <a:srgbClr val="F0F7FB"/>
          </a:solidFill>
          <a:ln w="12700">
            <a:solidFill>
              <a:srgbClr val="00A8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190703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00A86B"/>
                </a:solidFill>
              </a:rPr>
              <a:t>~80% Complete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263648"/>
            <a:ext cx="28346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80" y="2364232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3748"/>
                </a:solidFill>
              </a:rPr>
              <a:t>• Hosted deployment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02260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3748"/>
                </a:solidFill>
              </a:rPr>
              <a:t>• User auth &amp; login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3680968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3748"/>
                </a:solidFill>
              </a:rPr>
              <a:t>• Role + row-level access control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4339336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3748"/>
                </a:solidFill>
              </a:rPr>
              <a:t>• Sample analytics (markets, vendors, IR%, rates)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4997704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3748"/>
                </a:solidFill>
              </a:rPr>
              <a:t>• Query history &amp; suggestions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5656072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3748"/>
                </a:solidFill>
              </a:rPr>
              <a:t>• App DB setup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46120" y="1193800"/>
            <a:ext cx="2834640" cy="685800"/>
          </a:xfrm>
          <a:prstGeom prst="rect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337560" y="121208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Phase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486408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Vendor &amp; Quality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46120" y="1879600"/>
            <a:ext cx="2834640" cy="384048"/>
          </a:xfrm>
          <a:prstGeom prst="rect">
            <a:avLst/>
          </a:prstGeom>
          <a:solidFill>
            <a:srgbClr val="F0F7FB"/>
          </a:solidFill>
          <a:ln w="12700">
            <a:solidFill>
              <a:srgbClr val="009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337560" y="190703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0099CC"/>
                </a:solidFill>
              </a:rPr>
              <a:t>Pending schema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46120" y="2263648"/>
            <a:ext cx="28346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383280" y="2364232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3748"/>
                </a:solidFill>
              </a:rPr>
              <a:t>• Vendor cost analysis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302260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3748"/>
                </a:solidFill>
              </a:rPr>
              <a:t>• Sample quality metrics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3680968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3748"/>
                </a:solidFill>
              </a:rPr>
              <a:t>• Vendor scoring &amp; comparison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3280" y="4339336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3748"/>
                </a:solidFill>
              </a:rPr>
              <a:t>• New SQL tables integration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1193800"/>
            <a:ext cx="2834640" cy="6858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09360" y="121208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Phase 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1486408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Revenue &amp; Commercial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1879600"/>
            <a:ext cx="2834640" cy="384048"/>
          </a:xfrm>
          <a:prstGeom prst="rect">
            <a:avLst/>
          </a:prstGeom>
          <a:solidFill>
            <a:srgbClr val="F0F7FB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09360" y="190703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1A3A5C"/>
                </a:solidFill>
              </a:rPr>
              <a:t>Pending Finance data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2263648"/>
            <a:ext cx="28346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55080" y="2364232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3748"/>
                </a:solidFill>
              </a:rPr>
              <a:t>• Revenue by market/client/BU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302260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3748"/>
                </a:solidFill>
              </a:rPr>
              <a:t>• Research cost &amp; margins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3680968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3748"/>
                </a:solidFill>
              </a:rPr>
              <a:t>• Financial access control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080" y="4339336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3748"/>
                </a:solidFill>
              </a:rPr>
              <a:t>• Finance data integration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89720" y="1193800"/>
            <a:ext cx="2834640" cy="6858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281160" y="121208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Phase 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81160" y="1486408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Advanced Intelligence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89720" y="1879600"/>
            <a:ext cx="2834640" cy="384048"/>
          </a:xfrm>
          <a:prstGeom prst="rect">
            <a:avLst/>
          </a:prstGeom>
          <a:solidFill>
            <a:srgbClr val="F0F7FB"/>
          </a:solidFill>
          <a:ln w="1270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281160" y="190703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C5CE7"/>
                </a:solidFill>
              </a:rPr>
              <a:t>Future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89720" y="2263648"/>
            <a:ext cx="28346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326880" y="2364232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3748"/>
                </a:solidFill>
              </a:rPr>
              <a:t>• Trend forecasting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26880" y="302260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3748"/>
                </a:solidFill>
              </a:rPr>
              <a:t>• Anomaly alerts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0" y="3680968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3748"/>
                </a:solidFill>
              </a:rPr>
              <a:t>• Executive summaries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26880" y="4339336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3748"/>
                </a:solidFill>
              </a:rPr>
              <a:t>• Tableau/SSRS integration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l"/>
            <a:r>
              <a:rPr sz="2200" b="1">
                <a:solidFill>
                  <a:srgbClr val="FFFFFF"/>
                </a:solidFill>
              </a:rPr>
              <a:t>Implementation Scenarios — Cost &amp; Timeline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50800"/>
          </a:xfrm>
          <a:prstGeom prst="rect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148080"/>
          <a:ext cx="11430000" cy="5577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7076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Scenario 1
Tech Team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Scenario 2
Analytics Team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Scenario 3  ★
Hybrid (Recommended)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707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Team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748"/>
                          </a:solidFill>
                        </a:rPr>
                        <a:t>1–2 Tech developers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748"/>
                          </a:solidFill>
                        </a:rPr>
                        <a:t>2–3 Analysts + Claude AI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3A5C"/>
                          </a:solidFill>
                        </a:rPr>
                        <a:t>Analytics leads + Tech for infra</a:t>
                      </a:r>
                    </a:p>
                  </a:txBody>
                  <a:tcPr>
                    <a:solidFill>
                      <a:srgbClr val="E8F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707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Phase 1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748"/>
                          </a:solidFill>
                        </a:rPr>
                        <a:t>4–6 weeks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748"/>
                          </a:solidFill>
                        </a:rPr>
                        <a:t>10–14 weeks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3A5C"/>
                          </a:solidFill>
                        </a:rPr>
                        <a:t>5–7 weeks</a:t>
                      </a:r>
                    </a:p>
                  </a:txBody>
                  <a:tcPr>
                    <a:solidFill>
                      <a:srgbClr val="E8F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707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Phase 2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748"/>
                          </a:solidFill>
                        </a:rPr>
                        <a:t>6–8 weeks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748"/>
                          </a:solidFill>
                        </a:rPr>
                        <a:t>10–14 weeks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3A5C"/>
                          </a:solidFill>
                        </a:rPr>
                        <a:t>7–10 weeks</a:t>
                      </a:r>
                    </a:p>
                  </a:txBody>
                  <a:tcPr>
                    <a:solidFill>
                      <a:srgbClr val="E8F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707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Phase 3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748"/>
                          </a:solidFill>
                        </a:rPr>
                        <a:t>6–8 weeks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748"/>
                          </a:solidFill>
                        </a:rPr>
                        <a:t>10–14 weeks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3A5C"/>
                          </a:solidFill>
                        </a:rPr>
                        <a:t>7–10 weeks</a:t>
                      </a:r>
                    </a:p>
                  </a:txBody>
                  <a:tcPr>
                    <a:solidFill>
                      <a:srgbClr val="E8F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707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Phase 4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748"/>
                          </a:solidFill>
                        </a:rPr>
                        <a:t>8–10 weeks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748"/>
                          </a:solidFill>
                        </a:rPr>
                        <a:t>14–18 weeks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3A5C"/>
                          </a:solidFill>
                        </a:rPr>
                        <a:t>10–12 weeks</a:t>
                      </a:r>
                    </a:p>
                  </a:txBody>
                  <a:tcPr>
                    <a:solidFill>
                      <a:srgbClr val="E8F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707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Total Duration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748"/>
                          </a:solidFill>
                        </a:rPr>
                        <a:t>~6–8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748"/>
                          </a:solidFill>
                        </a:rPr>
                        <a:t>~12–15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3A5C"/>
                          </a:solidFill>
                        </a:rPr>
                        <a:t>~8–10 months</a:t>
                      </a:r>
                    </a:p>
                  </a:txBody>
                  <a:tcPr>
                    <a:solidFill>
                      <a:srgbClr val="E8F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707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Claude Licences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748"/>
                          </a:solidFill>
                        </a:rPr>
                        <a:t>2 × ~$100/mo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748"/>
                          </a:solidFill>
                        </a:rPr>
                        <a:t>3 × ~$100/mo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3A5C"/>
                          </a:solidFill>
                        </a:rPr>
                        <a:t>2 × ~$100/mo</a:t>
                      </a:r>
                    </a:p>
                  </a:txBody>
                  <a:tcPr>
                    <a:solidFill>
                      <a:srgbClr val="E8F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707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Licence Cost (dev)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748"/>
                          </a:solidFill>
                        </a:rPr>
                        <a:t>~$1,200–$1,600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748"/>
                          </a:solidFill>
                        </a:rPr>
                        <a:t>~$2,400–$4,500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3A5C"/>
                          </a:solidFill>
                        </a:rPr>
                        <a:t>~$1,600–$2,000</a:t>
                      </a:r>
                    </a:p>
                  </a:txBody>
                  <a:tcPr>
                    <a:solidFill>
                      <a:srgbClr val="E8F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0707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Key Advantage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748"/>
                          </a:solidFill>
                        </a:rPr>
                        <a:t>Fastest delivery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748"/>
                          </a:solidFill>
                        </a:rPr>
                        <a:t>Full team ownership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3A5C"/>
                          </a:solidFill>
                        </a:rPr>
                        <a:t>Balanced speed + ownership</a:t>
                      </a:r>
                    </a:p>
                  </a:txBody>
                  <a:tcPr>
                    <a:solidFill>
                      <a:srgbClr val="E8F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0708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Key Risk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748"/>
                          </a:solidFill>
                        </a:rPr>
                        <a:t>Tech team availability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748"/>
                          </a:solidFill>
                        </a:rPr>
                        <a:t>Longer timeline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3A5C"/>
                          </a:solidFill>
                        </a:rPr>
                        <a:t>Cross-team coordination</a:t>
                      </a:r>
                    </a:p>
                  </a:txBody>
                  <a:tcPr>
                    <a:solidFill>
                      <a:srgbClr val="E8F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l"/>
            <a:r>
              <a:rPr sz="2200" b="1">
                <a:solidFill>
                  <a:srgbClr val="FFFFFF"/>
                </a:solidFill>
              </a:rPr>
              <a:t>Ongoing Operational Costs  (Post Go-Live)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50800"/>
          </a:xfrm>
          <a:prstGeom prst="rect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566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2D3748"/>
                </a:solidFill>
              </a:rPr>
              <a:t>Based on 10 users × 100 questions/month = 1,000 questions/month = 3,000 API calls/month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513840"/>
          <a:ext cx="1060704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170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Cost Item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Monthly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Annual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Notes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170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748"/>
                          </a:solidFill>
                        </a:rPr>
                        <a:t>Claude API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748"/>
                          </a:solidFill>
                        </a:rPr>
                        <a:t>~$35 – $50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748"/>
                          </a:solidFill>
                        </a:rPr>
                        <a:t>~$420 – $600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748"/>
                          </a:solidFill>
                        </a:rPr>
                        <a:t>Only external cost — scales with usage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170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748"/>
                          </a:solidFill>
                        </a:rPr>
                        <a:t>Hosting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748"/>
                          </a:solidFill>
                        </a:rPr>
                        <a:t>$0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748"/>
                          </a:solidFill>
                        </a:rPr>
                        <a:t>$0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748"/>
                          </a:solidFill>
                        </a:rPr>
                        <a:t>Internal BA subdomain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170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748"/>
                          </a:solidFill>
                        </a:rPr>
                        <a:t>Analytics Database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748"/>
                          </a:solidFill>
                        </a:rPr>
                        <a:t>$0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748"/>
                          </a:solidFill>
                        </a:rPr>
                        <a:t>$0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748"/>
                          </a:solidFill>
                        </a:rPr>
                        <a:t>Existing KpiReports SQL Server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170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748"/>
                          </a:solidFill>
                        </a:rPr>
                        <a:t>Application Database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748"/>
                          </a:solidFill>
                        </a:rPr>
                        <a:t>$0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748"/>
                          </a:solidFill>
                        </a:rPr>
                        <a:t>$0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748"/>
                          </a:solidFill>
                        </a:rPr>
                        <a:t>New DB on existing SQL Server infra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170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748"/>
                          </a:solidFill>
                        </a:rPr>
                        <a:t>Maintenance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748"/>
                          </a:solidFill>
                        </a:rPr>
                        <a:t>Internal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748"/>
                          </a:solidFill>
                        </a:rPr>
                        <a:t>Internal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748"/>
                          </a:solidFill>
                        </a:rPr>
                        <a:t>Owned by Analytics team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170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~$35–$50/month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~$420–$600/year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Highly cost-effective for an enterprise tool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31520" y="5532120"/>
            <a:ext cx="10607040" cy="749808"/>
          </a:xfrm>
          <a:prstGeom prst="rect">
            <a:avLst/>
          </a:prstGeom>
          <a:solidFill>
            <a:srgbClr val="E8F8F0"/>
          </a:solidFill>
          <a:ln w="12700">
            <a:solidFill>
              <a:srgbClr val="00A8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5577840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6B45"/>
                </a:solidFill>
              </a:rPr>
              <a:t>The only recurring external cost is the Anthropic API  —  under $50/month for a 10-user deployment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l"/>
            <a:r>
              <a:rPr sz="2200" b="1">
                <a:solidFill>
                  <a:srgbClr val="FFFFFF"/>
                </a:solidFill>
              </a:rPr>
              <a:t>Recommendation — Scenario 3: Hybrid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50800"/>
          </a:xfrm>
          <a:prstGeom prst="rect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1023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99CC"/>
                </a:solidFill>
              </a:rPr>
              <a:t>Analytics team leads  ·  Technology team provides infrastructure support  ·  Claude AI accelerates delivery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605280"/>
            <a:ext cx="5577840" cy="1554480"/>
          </a:xfrm>
          <a:prstGeom prst="rect">
            <a:avLst/>
          </a:prstGeom>
          <a:solidFill>
            <a:srgbClr val="F0F7FB"/>
          </a:solidFill>
          <a:ln w="12700">
            <a:solidFill>
              <a:srgbClr val="009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7424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99CC"/>
                </a:solidFill>
              </a:rPr>
              <a:t>Domain Ownership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9640"/>
            <a:ext cx="5212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3748"/>
                </a:solidFill>
              </a:rPr>
              <a:t>Analytics team understands KPIs and data rules. Best placed to build and maintain long-term.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605280"/>
            <a:ext cx="5577840" cy="1554480"/>
          </a:xfrm>
          <a:prstGeom prst="rect">
            <a:avLst/>
          </a:prstGeom>
          <a:solidFill>
            <a:srgbClr val="F0F7FB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7424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A5C"/>
                </a:solidFill>
              </a:rPr>
              <a:t>Claude AI Lowers the Bar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199640"/>
            <a:ext cx="5212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3748"/>
                </a:solidFill>
              </a:rPr>
              <a:t>Python, FastAPI, React — all achievable by analysts with Claude Code assistance.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296920"/>
            <a:ext cx="5577840" cy="1554480"/>
          </a:xfrm>
          <a:prstGeom prst="rect">
            <a:avLst/>
          </a:prstGeom>
          <a:solidFill>
            <a:srgbClr val="F0F7FB"/>
          </a:solidFill>
          <a:ln w="12700">
            <a:solidFill>
              <a:srgbClr val="009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34340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99CC"/>
                </a:solidFill>
              </a:rPr>
              <a:t>Bounded Tech Involvement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891280"/>
            <a:ext cx="5212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3748"/>
                </a:solidFill>
              </a:rPr>
              <a:t>Tech team role: hosting, DB setup, deployment. Defined scope. No ongoing dependency.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3296920"/>
            <a:ext cx="5577840" cy="1554480"/>
          </a:xfrm>
          <a:prstGeom prst="rect">
            <a:avLst/>
          </a:prstGeom>
          <a:solidFill>
            <a:srgbClr val="F0F7FB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46520" y="34340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A5C"/>
                </a:solidFill>
              </a:rPr>
              <a:t>Long-Term Sustainability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891280"/>
            <a:ext cx="5212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3748"/>
                </a:solidFill>
              </a:rPr>
              <a:t>Tool ownership stays with the team closest to the data from day one.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9412" y="5095966"/>
            <a:ext cx="11430000" cy="1554480"/>
          </a:xfrm>
          <a:prstGeom prst="rect">
            <a:avLst/>
          </a:prstGeom>
          <a:solidFill>
            <a:srgbClr val="F0F7FB"/>
          </a:solidFill>
          <a:ln w="12700">
            <a:solidFill>
              <a:srgbClr val="00A8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62292" y="5233126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A86B"/>
                </a:solidFill>
              </a:rPr>
              <a:t>Best Value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2292" y="5690326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3748"/>
                </a:solidFill>
              </a:rPr>
              <a:t>Fewer licences than Scenario 2. Less Tech dependency than Scenario 1. Faster delivery.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l"/>
            <a:r>
              <a:rPr sz="2200" b="1">
                <a:solidFill>
                  <a:srgbClr val="FFFFFF"/>
                </a:solidFill>
              </a:rPr>
              <a:t>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50800"/>
          </a:xfrm>
          <a:prstGeom prst="rect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365760" y="1513840"/>
            <a:ext cx="594360" cy="594360"/>
          </a:xfrm>
          <a:prstGeom prst="ellipse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37668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099CC"/>
                </a:solidFill>
              </a:rPr>
              <a:t>Approve Proposal</a:t>
            </a:r>
          </a:p>
          <a:p>
            <a:r>
              <a:rPr sz="1050">
                <a:solidFill>
                  <a:srgbClr val="2D3748"/>
                </a:solidFill>
              </a:rPr>
              <a:t>Review, align on scope and scenario</a:t>
            </a:r>
          </a:p>
        </p:txBody>
      </p:sp>
      <p:sp>
        <p:nvSpPr>
          <p:cNvPr id="6" name="Oval 5"/>
          <p:cNvSpPr/>
          <p:nvPr/>
        </p:nvSpPr>
        <p:spPr>
          <a:xfrm>
            <a:off x="6263640" y="1513840"/>
            <a:ext cx="594360" cy="594360"/>
          </a:xfrm>
          <a:prstGeom prst="ellipse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95160" y="137668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A3A5C"/>
                </a:solidFill>
              </a:rPr>
              <a:t>Select Scenario</a:t>
            </a:r>
          </a:p>
          <a:p>
            <a:r>
              <a:rPr sz="1050">
                <a:solidFill>
                  <a:srgbClr val="2D3748"/>
                </a:solidFill>
              </a:rPr>
              <a:t>Confirm team structure — hybrid model recommended</a:t>
            </a:r>
          </a:p>
        </p:txBody>
      </p:sp>
      <p:sp>
        <p:nvSpPr>
          <p:cNvPr id="8" name="Oval 7"/>
          <p:cNvSpPr/>
          <p:nvPr/>
        </p:nvSpPr>
        <p:spPr>
          <a:xfrm>
            <a:off x="365760" y="2885440"/>
            <a:ext cx="594360" cy="594360"/>
          </a:xfrm>
          <a:prstGeom prst="ellipse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74828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099CC"/>
                </a:solidFill>
              </a:rPr>
              <a:t>Identify Team</a:t>
            </a:r>
          </a:p>
          <a:p>
            <a:r>
              <a:rPr sz="1050">
                <a:solidFill>
                  <a:srgbClr val="2D3748"/>
                </a:solidFill>
              </a:rPr>
              <a:t>Name Analytics leads and Technology support contacts</a:t>
            </a:r>
          </a:p>
        </p:txBody>
      </p:sp>
      <p:sp>
        <p:nvSpPr>
          <p:cNvPr id="10" name="Oval 9"/>
          <p:cNvSpPr/>
          <p:nvPr/>
        </p:nvSpPr>
        <p:spPr>
          <a:xfrm>
            <a:off x="6263640" y="2885440"/>
            <a:ext cx="594360" cy="594360"/>
          </a:xfrm>
          <a:prstGeom prst="ellipse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5160" y="274828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A3A5C"/>
                </a:solidFill>
              </a:rPr>
              <a:t>Procure Licences</a:t>
            </a:r>
          </a:p>
          <a:p>
            <a:r>
              <a:rPr sz="1050">
                <a:solidFill>
                  <a:srgbClr val="2D3748"/>
                </a:solidFill>
              </a:rPr>
              <a:t>Additional Claude development licences for the team</a:t>
            </a:r>
          </a:p>
        </p:txBody>
      </p:sp>
      <p:sp>
        <p:nvSpPr>
          <p:cNvPr id="12" name="Oval 11"/>
          <p:cNvSpPr/>
          <p:nvPr/>
        </p:nvSpPr>
        <p:spPr>
          <a:xfrm>
            <a:off x="365760" y="4257040"/>
            <a:ext cx="594360" cy="594360"/>
          </a:xfrm>
          <a:prstGeom prst="ellipse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11988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099CC"/>
                </a:solidFill>
              </a:rPr>
              <a:t>Setup App Database</a:t>
            </a:r>
          </a:p>
          <a:p>
            <a:r>
              <a:rPr sz="1050">
                <a:solidFill>
                  <a:srgbClr val="2D3748"/>
                </a:solidFill>
              </a:rPr>
              <a:t>User management, access control rules, query history storage</a:t>
            </a:r>
          </a:p>
        </p:txBody>
      </p:sp>
      <p:sp>
        <p:nvSpPr>
          <p:cNvPr id="14" name="Oval 13"/>
          <p:cNvSpPr/>
          <p:nvPr/>
        </p:nvSpPr>
        <p:spPr>
          <a:xfrm>
            <a:off x="6263640" y="4257040"/>
            <a:ext cx="594360" cy="594360"/>
          </a:xfrm>
          <a:prstGeom prst="ellipse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411988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A3A5C"/>
                </a:solidFill>
              </a:rPr>
              <a:t>Configure Hosting</a:t>
            </a:r>
          </a:p>
          <a:p>
            <a:r>
              <a:rPr sz="1050">
                <a:solidFill>
                  <a:srgbClr val="2D3748"/>
                </a:solidFill>
              </a:rPr>
              <a:t>Set up paneliq.borderlessaccess.com subdomain</a:t>
            </a:r>
          </a:p>
        </p:txBody>
      </p:sp>
      <p:sp>
        <p:nvSpPr>
          <p:cNvPr id="16" name="Oval 15"/>
          <p:cNvSpPr/>
          <p:nvPr/>
        </p:nvSpPr>
        <p:spPr>
          <a:xfrm>
            <a:off x="365760" y="5628640"/>
            <a:ext cx="594360" cy="594360"/>
          </a:xfrm>
          <a:prstGeom prst="ellipse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49148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099CC"/>
                </a:solidFill>
              </a:rPr>
              <a:t>Phase 1 Deployment</a:t>
            </a:r>
          </a:p>
          <a:p>
            <a:r>
              <a:rPr sz="1050">
                <a:solidFill>
                  <a:srgbClr val="2D3748"/>
                </a:solidFill>
              </a:rPr>
              <a:t>POC is ~80% ready — faster than a fresh build</a:t>
            </a:r>
          </a:p>
        </p:txBody>
      </p:sp>
      <p:sp>
        <p:nvSpPr>
          <p:cNvPr id="18" name="Oval 17"/>
          <p:cNvSpPr/>
          <p:nvPr/>
        </p:nvSpPr>
        <p:spPr>
          <a:xfrm>
            <a:off x="6263640" y="5628640"/>
            <a:ext cx="594360" cy="594360"/>
          </a:xfrm>
          <a:prstGeom prst="ellipse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5160" y="549148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A3A5C"/>
                </a:solidFill>
              </a:rPr>
              <a:t>Define Access Matrix</a:t>
            </a:r>
          </a:p>
          <a:p>
            <a:r>
              <a:rPr sz="1050">
                <a:solidFill>
                  <a:srgbClr val="2D3748"/>
                </a:solidFill>
              </a:rPr>
              <a:t>Map users to data domains, roles, and field permissions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88952" cy="63500"/>
          </a:xfrm>
          <a:prstGeom prst="rect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099CC"/>
                </a:solidFill>
              </a:rP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9319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0B8D0"/>
                </a:solidFill>
              </a:rPr>
              <a:t>paneliq.borderlessaccess.com  |  Borderless Access  |  May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1116</Words>
  <Application>Microsoft Office PowerPoint</Application>
  <PresentationFormat>Custom</PresentationFormat>
  <Paragraphs>237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Karthik Shanmugam</cp:lastModifiedBy>
  <cp:revision>2</cp:revision>
  <dcterms:created xsi:type="dcterms:W3CDTF">2013-01-27T09:14:16Z</dcterms:created>
  <dcterms:modified xsi:type="dcterms:W3CDTF">2026-05-27T15:13:18Z</dcterms:modified>
  <cp:category/>
</cp:coreProperties>
</file>